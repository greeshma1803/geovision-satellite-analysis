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77" r:id="rId4"/>
    <p:sldId id="257" r:id="rId5"/>
    <p:sldId id="269" r:id="rId6"/>
    <p:sldId id="259" r:id="rId7"/>
    <p:sldId id="260" r:id="rId8"/>
    <p:sldId id="261" r:id="rId9"/>
    <p:sldId id="272" r:id="rId10"/>
    <p:sldId id="271" r:id="rId11"/>
    <p:sldId id="278" r:id="rId12"/>
    <p:sldId id="263" r:id="rId13"/>
    <p:sldId id="262" r:id="rId14"/>
    <p:sldId id="279" r:id="rId15"/>
    <p:sldId id="264" r:id="rId16"/>
    <p:sldId id="265" r:id="rId17"/>
    <p:sldId id="275" r:id="rId18"/>
    <p:sldId id="276" r:id="rId19"/>
    <p:sldId id="281" r:id="rId20"/>
    <p:sldId id="267" r:id="rId21"/>
    <p:sldId id="280" r:id="rId22"/>
    <p:sldId id="268" r:id="rId23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6384" autoAdjust="0"/>
  </p:normalViewPr>
  <p:slideViewPr>
    <p:cSldViewPr>
      <p:cViewPr>
        <p:scale>
          <a:sx n="90" d="100"/>
          <a:sy n="90" d="100"/>
        </p:scale>
        <p:origin x="-576" y="-244"/>
      </p:cViewPr>
      <p:guideLst>
        <p:guide orient="horz" pos="2880"/>
        <p:guide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050" y="422940"/>
            <a:ext cx="440690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5050" y="1049533"/>
            <a:ext cx="6923405" cy="285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s41598-025-12512-7" TargetMode="External"/><Relationship Id="rId3" Type="http://schemas.openxmlformats.org/officeDocument/2006/relationships/hyperlink" Target="https://doi.org/10.3390/su172210324" TargetMode="External"/><Relationship Id="rId7" Type="http://schemas.openxmlformats.org/officeDocument/2006/relationships/hyperlink" Target="https://doi.org/10.1007/s10333-025-01024-9" TargetMode="External"/><Relationship Id="rId2" Type="http://schemas.openxmlformats.org/officeDocument/2006/relationships/hyperlink" Target="https://doi.org/10.1016/j.rse.2024.11429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su16010274" TargetMode="External"/><Relationship Id="rId5" Type="http://schemas.openxmlformats.org/officeDocument/2006/relationships/hyperlink" Target="https://doi.org/10.1016/j.jag.2025.104839" TargetMode="External"/><Relationship Id="rId4" Type="http://schemas.openxmlformats.org/officeDocument/2006/relationships/hyperlink" Target="https://doi.org/10.1007/s10462-025-11265-z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4-67186-4" TargetMode="External"/><Relationship Id="rId2" Type="http://schemas.openxmlformats.org/officeDocument/2006/relationships/hyperlink" Target="https://doi.org/10.1007/s41651-024-00195-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9/JSTARS.2024.3411670" TargetMode="External"/><Relationship Id="rId5" Type="http://schemas.openxmlformats.org/officeDocument/2006/relationships/hyperlink" Target="https://doi.org/10.3390/rs16020390" TargetMode="External"/><Relationship Id="rId4" Type="http://schemas.openxmlformats.org/officeDocument/2006/relationships/hyperlink" Target="https://doi.org/10.3390/s25071988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84195" y="322798"/>
            <a:ext cx="4355465" cy="643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1290" marR="5080" indent="-149225">
              <a:lnSpc>
                <a:spcPct val="101499"/>
              </a:lnSpc>
              <a:spcBef>
                <a:spcPts val="90"/>
              </a:spcBef>
            </a:pPr>
            <a:r>
              <a:rPr dirty="0">
                <a:solidFill>
                  <a:srgbClr val="0000FF"/>
                </a:solidFill>
              </a:rPr>
              <a:t>Department</a:t>
            </a:r>
            <a:r>
              <a:rPr spc="6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of</a:t>
            </a:r>
            <a:r>
              <a:rPr spc="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Information</a:t>
            </a:r>
            <a:r>
              <a:rPr spc="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Technology </a:t>
            </a:r>
            <a:r>
              <a:rPr dirty="0">
                <a:solidFill>
                  <a:srgbClr val="FF0000"/>
                </a:solidFill>
              </a:rPr>
              <a:t>V</a:t>
            </a:r>
            <a:r>
              <a:rPr spc="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Siddhartha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Engineering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College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7268"/>
            <a:ext cx="1603782" cy="7431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8791" y="1211192"/>
            <a:ext cx="7739380" cy="351032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2100" b="1" spc="-25" smtClean="0">
                <a:latin typeface="Times New Roman"/>
                <a:cs typeface="Times New Roman"/>
              </a:rPr>
              <a:t>LLM-</a:t>
            </a:r>
            <a:r>
              <a:rPr lang="en-US" sz="2100" b="1" dirty="0" smtClean="0">
                <a:latin typeface="Times New Roman"/>
                <a:cs typeface="Times New Roman"/>
              </a:rPr>
              <a:t>Integrated</a:t>
            </a:r>
            <a:r>
              <a:rPr sz="2100" b="1" spc="-110" smtClean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Satellite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20">
                <a:latin typeface="Times New Roman"/>
                <a:cs typeface="Times New Roman"/>
              </a:rPr>
              <a:t>Image</a:t>
            </a:r>
            <a:r>
              <a:rPr sz="2100" b="1" spc="-120">
                <a:latin typeface="Times New Roman"/>
                <a:cs typeface="Times New Roman"/>
              </a:rPr>
              <a:t> </a:t>
            </a:r>
            <a:r>
              <a:rPr sz="2100" b="1" smtClean="0">
                <a:latin typeface="Times New Roman"/>
                <a:cs typeface="Times New Roman"/>
              </a:rPr>
              <a:t>Analysis</a:t>
            </a:r>
            <a:r>
              <a:rPr lang="en-US" sz="2100" b="1" spc="-65" dirty="0">
                <a:latin typeface="Times New Roman"/>
                <a:cs typeface="Times New Roman"/>
              </a:rPr>
              <a:t> </a:t>
            </a:r>
            <a:r>
              <a:rPr lang="en-US" sz="2100" b="1" spc="-65" dirty="0" smtClean="0">
                <a:latin typeface="Times New Roman"/>
                <a:cs typeface="Times New Roman"/>
              </a:rPr>
              <a:t>and</a:t>
            </a:r>
            <a:r>
              <a:rPr sz="2100" b="1" spc="-55" smtClean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Change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Detection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System</a:t>
            </a:r>
            <a:endParaRPr sz="2100">
              <a:latin typeface="Times New Roman"/>
              <a:cs typeface="Times New Roman"/>
            </a:endParaRPr>
          </a:p>
          <a:p>
            <a:pPr marL="2293620" marR="2174240" algn="ctr">
              <a:lnSpc>
                <a:spcPct val="150800"/>
              </a:lnSpc>
              <a:spcBef>
                <a:spcPts val="1860"/>
              </a:spcBef>
            </a:pPr>
            <a:r>
              <a:rPr sz="1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B.Tech</a:t>
            </a:r>
            <a:r>
              <a:rPr sz="1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6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sz="16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 </a:t>
            </a:r>
            <a:r>
              <a:rPr sz="1600" b="1" dirty="0">
                <a:solidFill>
                  <a:srgbClr val="BE11A6"/>
                </a:solidFill>
                <a:latin typeface="Times New Roman"/>
                <a:cs typeface="Times New Roman"/>
              </a:rPr>
              <a:t>MAJOR</a:t>
            </a:r>
            <a:r>
              <a:rPr sz="1600" b="1" spc="-30" dirty="0">
                <a:solidFill>
                  <a:srgbClr val="BE11A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BE11A6"/>
                </a:solidFill>
                <a:latin typeface="Times New Roman"/>
                <a:cs typeface="Times New Roman"/>
              </a:rPr>
              <a:t>Project</a:t>
            </a:r>
            <a:r>
              <a:rPr sz="1600" b="1" spc="-30" dirty="0">
                <a:solidFill>
                  <a:srgbClr val="BE11A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BE11A6"/>
                </a:solidFill>
                <a:latin typeface="Times New Roman"/>
                <a:cs typeface="Times New Roman"/>
              </a:rPr>
              <a:t>Review</a:t>
            </a:r>
            <a:r>
              <a:rPr sz="1600" b="1" spc="-25" dirty="0">
                <a:solidFill>
                  <a:srgbClr val="BE11A6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BE11A6"/>
                </a:solidFill>
                <a:latin typeface="Times New Roman"/>
                <a:cs typeface="Times New Roman"/>
              </a:rPr>
              <a:t>Presentation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600">
              <a:latin typeface="Times New Roman"/>
              <a:cs typeface="Times New Roman"/>
            </a:endParaRPr>
          </a:p>
          <a:p>
            <a:pPr marL="112395"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Presented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by</a:t>
            </a:r>
            <a:endParaRPr sz="1900">
              <a:latin typeface="Times New Roman"/>
              <a:cs typeface="Times New Roman"/>
            </a:endParaRPr>
          </a:p>
          <a:p>
            <a:pPr marL="2685415" marR="2565400" algn="ctr">
              <a:lnSpc>
                <a:spcPct val="100000"/>
              </a:lnSpc>
              <a:spcBef>
                <a:spcPts val="30"/>
              </a:spcBef>
            </a:pPr>
            <a:r>
              <a:rPr sz="1600" b="1" dirty="0">
                <a:solidFill>
                  <a:srgbClr val="002060"/>
                </a:solidFill>
                <a:latin typeface="Times New Roman"/>
                <a:cs typeface="Times New Roman"/>
              </a:rPr>
              <a:t>K</a:t>
            </a:r>
            <a:r>
              <a:rPr sz="16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2060"/>
                </a:solidFill>
                <a:latin typeface="Times New Roman"/>
                <a:cs typeface="Times New Roman"/>
              </a:rPr>
              <a:t>Greeshma</a:t>
            </a:r>
            <a:r>
              <a:rPr sz="1600" b="1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(228W1A12F9) </a:t>
            </a:r>
            <a:r>
              <a:rPr sz="1600" b="1" dirty="0">
                <a:solidFill>
                  <a:srgbClr val="002060"/>
                </a:solidFill>
                <a:latin typeface="Times New Roman"/>
                <a:cs typeface="Times New Roman"/>
              </a:rPr>
              <a:t>G</a:t>
            </a:r>
            <a:r>
              <a:rPr sz="1600" b="1" spc="-6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002060"/>
                </a:solidFill>
                <a:latin typeface="Times New Roman"/>
                <a:cs typeface="Times New Roman"/>
              </a:rPr>
              <a:t>Teja</a:t>
            </a:r>
            <a:r>
              <a:rPr sz="1600" b="1" spc="-3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(228W1A12E9)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Times New Roman"/>
              <a:cs typeface="Times New Roman"/>
            </a:endParaRPr>
          </a:p>
          <a:p>
            <a:pPr marL="5715" algn="ctr">
              <a:lnSpc>
                <a:spcPts val="1500"/>
              </a:lnSpc>
            </a:pPr>
            <a:r>
              <a:rPr sz="1250" dirty="0">
                <a:latin typeface="Times New Roman"/>
                <a:cs typeface="Times New Roman"/>
              </a:rPr>
              <a:t>Under</a:t>
            </a:r>
            <a:r>
              <a:rPr sz="1250" spc="8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the</a:t>
            </a:r>
            <a:r>
              <a:rPr sz="1250" spc="8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guidance</a:t>
            </a:r>
            <a:r>
              <a:rPr sz="1250" spc="80" dirty="0">
                <a:latin typeface="Times New Roman"/>
                <a:cs typeface="Times New Roman"/>
              </a:rPr>
              <a:t> </a:t>
            </a:r>
            <a:r>
              <a:rPr sz="1250" spc="-25" dirty="0">
                <a:latin typeface="Times New Roman"/>
                <a:cs typeface="Times New Roman"/>
              </a:rPr>
              <a:t>of</a:t>
            </a:r>
            <a:endParaRPr sz="1250">
              <a:latin typeface="Times New Roman"/>
              <a:cs typeface="Times New Roman"/>
            </a:endParaRPr>
          </a:p>
          <a:p>
            <a:pPr marL="97790" algn="ctr">
              <a:lnSpc>
                <a:spcPts val="1739"/>
              </a:lnSpc>
            </a:pPr>
            <a:r>
              <a:rPr sz="145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Dr.</a:t>
            </a:r>
            <a:r>
              <a:rPr sz="14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450" b="1" spc="-9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 smtClean="0">
                <a:solidFill>
                  <a:srgbClr val="FF0000"/>
                </a:solidFill>
                <a:latin typeface="Times New Roman"/>
                <a:cs typeface="Times New Roman"/>
              </a:rPr>
              <a:t>Radhe</a:t>
            </a:r>
            <a:r>
              <a:rPr lang="en-US" sz="145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 smtClean="0">
                <a:solidFill>
                  <a:srgbClr val="FF0000"/>
                </a:solidFill>
                <a:latin typeface="Times New Roman"/>
                <a:cs typeface="Times New Roman"/>
              </a:rPr>
              <a:t>Syam</a:t>
            </a:r>
            <a:r>
              <a:rPr sz="1450" b="1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450" b="1" spc="-7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Associate</a:t>
            </a:r>
            <a:r>
              <a:rPr sz="1400" b="1" spc="-2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Professor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4706" y="30265"/>
            <a:ext cx="859293" cy="9987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22940"/>
            <a:ext cx="4019950" cy="430887"/>
          </a:xfrm>
        </p:spPr>
        <p:txBody>
          <a:bodyPr/>
          <a:lstStyle/>
          <a:p>
            <a:r>
              <a:rPr lang="en-US" sz="2800" dirty="0" smtClean="0"/>
              <a:t>Agenda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049533"/>
            <a:ext cx="6536455" cy="3998531"/>
          </a:xfrm>
        </p:spPr>
        <p:txBody>
          <a:bodyPr/>
          <a:lstStyle/>
          <a:p>
            <a:pPr marL="527050" indent="-514350">
              <a:lnSpc>
                <a:spcPct val="100000"/>
              </a:lnSpc>
              <a:spcBef>
                <a:spcPts val="409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dirty="0" smtClean="0"/>
              <a:t>Introduction</a:t>
            </a:r>
          </a:p>
          <a:p>
            <a:pPr marL="527050" indent="-514350">
              <a:lnSpc>
                <a:spcPct val="100000"/>
              </a:lnSpc>
              <a:spcBef>
                <a:spcPts val="409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dirty="0" smtClean="0"/>
              <a:t>Problem Statement</a:t>
            </a: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dirty="0" smtClean="0"/>
              <a:t>Objectives</a:t>
            </a:r>
            <a:r>
              <a:rPr lang="en-US" spc="-90" dirty="0" smtClean="0"/>
              <a:t> &amp; </a:t>
            </a:r>
            <a:r>
              <a:rPr lang="en-US" dirty="0" smtClean="0"/>
              <a:t>Outcomes</a:t>
            </a:r>
            <a:r>
              <a:rPr lang="en-US" spc="-40" dirty="0" smtClean="0"/>
              <a:t> </a:t>
            </a:r>
            <a:r>
              <a:rPr lang="en-US" dirty="0" smtClean="0"/>
              <a:t>of</a:t>
            </a:r>
            <a:r>
              <a:rPr lang="en-US" spc="-45" dirty="0" smtClean="0"/>
              <a:t> </a:t>
            </a:r>
            <a:r>
              <a:rPr lang="en-US" dirty="0" smtClean="0"/>
              <a:t>the</a:t>
            </a:r>
            <a:r>
              <a:rPr lang="en-US" spc="-45" dirty="0" smtClean="0"/>
              <a:t> </a:t>
            </a:r>
            <a:r>
              <a:rPr lang="en-US" spc="-10" dirty="0" smtClean="0"/>
              <a:t>project</a:t>
            </a: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Font typeface="Arial" pitchFamily="34" charset="0"/>
              <a:buChar char="•"/>
              <a:tabLst>
                <a:tab pos="240665" algn="l"/>
              </a:tabLst>
            </a:pPr>
            <a:r>
              <a:rPr lang="en-US" spc="-10" dirty="0" smtClean="0"/>
              <a:t>Literature Survey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spc="-20" dirty="0" smtClean="0"/>
              <a:t>Datasets and Requirements specifications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spc="-20" dirty="0" smtClean="0"/>
              <a:t>Algorithms involved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dirty="0" smtClean="0"/>
              <a:t>Architecture</a:t>
            </a:r>
            <a:r>
              <a:rPr lang="en-US" spc="-105" dirty="0" smtClean="0"/>
              <a:t> </a:t>
            </a:r>
            <a:r>
              <a:rPr lang="en-US" spc="-10" dirty="0" smtClean="0"/>
              <a:t>diagram</a:t>
            </a:r>
          </a:p>
          <a:p>
            <a:pPr marL="527050" indent="-514350">
              <a:lnSpc>
                <a:spcPct val="100000"/>
              </a:lnSpc>
              <a:spcBef>
                <a:spcPts val="340"/>
              </a:spcBef>
              <a:buFont typeface="Arial" pitchFamily="34" charset="0"/>
              <a:buChar char="•"/>
              <a:tabLst>
                <a:tab pos="329565" algn="l"/>
              </a:tabLst>
            </a:pPr>
            <a:r>
              <a:rPr lang="en-US" spc="-10" dirty="0" smtClean="0"/>
              <a:t>Complete Results Obtained</a:t>
            </a:r>
            <a:endParaRPr lang="en-US" dirty="0" smtClean="0"/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Font typeface="Arial" pitchFamily="34" charset="0"/>
              <a:buChar char="•"/>
              <a:tabLst>
                <a:tab pos="417830" algn="l"/>
              </a:tabLst>
            </a:pPr>
            <a:r>
              <a:rPr lang="en-US" spc="-10" dirty="0" smtClean="0"/>
              <a:t>Result Analysis &amp; Observations</a:t>
            </a:r>
            <a:endParaRPr lang="en-US" dirty="0" smtClean="0"/>
          </a:p>
          <a:p>
            <a:pPr marL="527050" indent="-514350">
              <a:lnSpc>
                <a:spcPct val="100000"/>
              </a:lnSpc>
              <a:spcBef>
                <a:spcPts val="335"/>
              </a:spcBef>
              <a:buFont typeface="Arial" pitchFamily="34" charset="0"/>
              <a:buChar char="•"/>
              <a:tabLst>
                <a:tab pos="417830" algn="l"/>
              </a:tabLst>
            </a:pPr>
            <a:r>
              <a:rPr lang="en-US" dirty="0" smtClean="0"/>
              <a:t>Conclusion &amp; Future Work</a:t>
            </a:r>
          </a:p>
          <a:p>
            <a:pPr marL="527050" indent="-514350">
              <a:lnSpc>
                <a:spcPct val="100000"/>
              </a:lnSpc>
              <a:spcBef>
                <a:spcPts val="335"/>
              </a:spcBef>
              <a:buFont typeface="Arial" pitchFamily="34" charset="0"/>
              <a:buChar char="•"/>
              <a:tabLst>
                <a:tab pos="417830" algn="l"/>
              </a:tabLst>
            </a:pPr>
            <a:r>
              <a:rPr lang="en-US" dirty="0" smtClean="0"/>
              <a:t>References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22940"/>
            <a:ext cx="4019950" cy="430887"/>
          </a:xfrm>
        </p:spPr>
        <p:txBody>
          <a:bodyPr/>
          <a:lstStyle/>
          <a:p>
            <a:r>
              <a:rPr lang="en-US" sz="2800" dirty="0" smtClean="0"/>
              <a:t>Introduction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049533"/>
            <a:ext cx="7848600" cy="3554819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Satellite imagery plays a crucial role in environmental monitoring, urban planning, and disaster management.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Rapid changes such as urbanization, deforestation, and climate impact require continuous analysis of land use.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Traditional methods of satellite image analysis are manual, time-consuming, and not scalable. With advancements in Artificial Intelligence and Deep Learning, automated analysis has become more efficient and accurate.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This project proposes an AI-driven system that performs: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Land cover classification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Image segmentation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Change detection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Real-time analysis with explainable outputs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422940"/>
            <a:ext cx="42485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Problem</a:t>
            </a:r>
            <a:r>
              <a:rPr sz="2800" spc="-35" dirty="0"/>
              <a:t> </a:t>
            </a:r>
            <a:r>
              <a:rPr sz="2800"/>
              <a:t>Statement</a:t>
            </a:r>
            <a:r>
              <a:rPr sz="2800" spc="-35"/>
              <a:t> </a:t>
            </a:r>
            <a:endParaRPr sz="2800"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081633"/>
            <a:ext cx="8001000" cy="328295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Rapid urbanization, deforestation, and environmental changes are continuously altering land use and land cover (LULC). </a:t>
            </a:r>
          </a:p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Traditional satellite image analysis methods are manual, time-consuming, and not scalable for large geographic regions.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Existing systems focus on isolated tasks such as classification </a:t>
            </a:r>
            <a:r>
              <a:rPr lang="en-US" sz="1700" i="1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change detection, lacking an integrated approach. </a:t>
            </a:r>
          </a:p>
          <a:p>
            <a:pPr algn="just">
              <a:buFont typeface="Arial" pitchFamily="34" charset="0"/>
              <a:buChar char="•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Most solutions lack real-time data processing, user-friendly interfaces, and explainable outputs.</a:t>
            </a:r>
          </a:p>
          <a:p>
            <a:pPr algn="just"/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➡Therefore, there is a need for an intelligent, automated, and scalable system that integrates segmentation, classification, and change detection with real-time analysis and interpretability.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6019"/>
            <a:ext cx="8153400" cy="4431983"/>
          </a:xfrm>
        </p:spPr>
        <p:txBody>
          <a:bodyPr numCol="2"/>
          <a:lstStyle/>
          <a:p>
            <a:pPr algn="just">
              <a:lnSpc>
                <a:spcPct val="150000"/>
              </a:lnSpc>
            </a:pPr>
            <a:r>
              <a:rPr lang="en-US" sz="2400" b="1" dirty="0" smtClean="0"/>
              <a:t>Objectives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To perform accurate land cover classification 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  using deep learning models.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implement image segmentation for precise 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  region identification.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detect temporal changes using advanced 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  models like U-Net.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enable real-time satellite data acquisition 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   using NASA GIBS.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/>
              <a:t> To incorporate LLM-based interpretation to provide quantitative analysis.</a:t>
            </a:r>
          </a:p>
          <a:p>
            <a:pPr algn="just">
              <a:lnSpc>
                <a:spcPct val="150000"/>
              </a:lnSpc>
            </a:pPr>
            <a:endParaRPr lang="en-US" sz="2400" b="1" dirty="0" smtClean="0"/>
          </a:p>
          <a:p>
            <a:pPr algn="just">
              <a:lnSpc>
                <a:spcPct val="150000"/>
              </a:lnSpc>
            </a:pPr>
            <a:r>
              <a:rPr lang="en-US" sz="2400" b="1" dirty="0" smtClean="0"/>
              <a:t>Outcomes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High-accuracy land cover classification (vegetation, urban,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water,etc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.)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Precise image segmentation with clear region boundaries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Reliable change detection maps highlighting environmental changes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Ability to process real-time satellite data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Development of a scalable and efficient geospatial analysis system </a:t>
            </a:r>
          </a:p>
          <a:p>
            <a:pPr algn="just">
              <a:lnSpc>
                <a:spcPct val="150000"/>
              </a:lnSpc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11030" y="167390"/>
            <a:ext cx="21209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/>
              <a:t>Literature</a:t>
            </a:r>
            <a:r>
              <a:rPr spc="-45"/>
              <a:t> </a:t>
            </a:r>
            <a:r>
              <a:rPr lang="en-US" dirty="0" smtClean="0"/>
              <a:t>Review</a:t>
            </a:r>
            <a:endParaRPr spc="-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666750"/>
          <a:ext cx="8382000" cy="42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95400"/>
                <a:gridCol w="1066800"/>
                <a:gridCol w="1828800"/>
                <a:gridCol w="1397000"/>
                <a:gridCol w="1397000"/>
                <a:gridCol w="1397000"/>
              </a:tblGrid>
              <a:tr h="302846"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Source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Algorithm / Model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Times New Roman" pitchFamily="18" charset="0"/>
                          <a:cs typeface="Times New Roman" pitchFamily="18" charset="0"/>
                        </a:rPr>
                        <a:t>Results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31262" marR="31262" marT="15631" marB="15631" anchor="ctr">
                    <a:solidFill>
                      <a:srgbClr val="FFFF00"/>
                    </a:solidFill>
                  </a:tcPr>
                </a:tc>
              </a:tr>
              <a:tr h="84015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LLMs for Geospatial </a:t>
                      </a:r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Reasoning,2025</a:t>
                      </a:r>
                      <a:endParaRPr lang="en-US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ACM SIGSPATIAL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Uses LLMs to analyze geospatial data and answer queries related to land use and environmental changes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GPT-based LLMs with prompt-based reasoning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Generates human-like explanations and supports decision-making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No direct spatial understanding, depends on input data quality</a:t>
                      </a:r>
                    </a:p>
                  </a:txBody>
                  <a:tcPr marL="31262" marR="31262" marT="15631" marB="15631" anchor="ctr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U-Net for Change </a:t>
                      </a:r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Detection,2024</a:t>
                      </a:r>
                      <a:endParaRPr lang="en-US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IEEE Access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Detects pixel-level changes between multi-temporal satellite images for environmental monitoring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U-Net (Encoder–Decoder CNN with skip connections)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High accuracy (~90–95%), produces precise change maps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Requires large labeled datasets, high computational cost, no real-time support</a:t>
                      </a:r>
                    </a:p>
                  </a:txBody>
                  <a:tcPr marL="31262" marR="31262" marT="15631" marB="15631"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 New Roman" pitchFamily="18" charset="0"/>
                          <a:cs typeface="Times New Roman" pitchFamily="18" charset="0"/>
                        </a:rPr>
                        <a:t>SAM for Satellite Image Segmentation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IEEE TGRS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Uses SAM for prompt-based segmentation of high-resolution satellite images (vegetation, water, urban)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SAM (ViT-based)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Achieved IoU &gt; 85%, works without fine-tuning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Poor performance on small objects, high memory usage, no classification</a:t>
                      </a:r>
                    </a:p>
                  </a:txBody>
                  <a:tcPr marL="43699" marR="43699" marT="21849" marB="21849"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 New Roman" pitchFamily="18" charset="0"/>
                          <a:cs typeface="Times New Roman" pitchFamily="18" charset="0"/>
                        </a:rPr>
                        <a:t>Land Cover Classification using Deep Learning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Remote Sensing (MDPI)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Deep learning pipeline for land cover classification using multi-temporal satellite data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CNN + U-Net + Random Forest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Accuracy ~88–91%, effective for urban growth detection</a:t>
                      </a:r>
                    </a:p>
                  </a:txBody>
                  <a:tcPr marL="43699" marR="43699" marT="21849" marB="218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Sensitive to cloud noise, requires preprocessing and labeled data</a:t>
                      </a:r>
                    </a:p>
                  </a:txBody>
                  <a:tcPr marL="43699" marR="43699" marT="21849" marB="21849"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LLM Benchmark for Geospatial </a:t>
                      </a:r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Tasks,2025</a:t>
                      </a:r>
                      <a:endParaRPr lang="en-US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Int. Journal of Digital Earth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Evaluates performance of LLMs on multiple geospatial reasoning tasks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GPT-4, GPT-4o, Claude, GLM-4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itchFamily="18" charset="0"/>
                          <a:cs typeface="Times New Roman" pitchFamily="18" charset="0"/>
                        </a:rPr>
                        <a:t>Best accuracy ~71%, shows potential of LLMs in geospatial domain</a:t>
                      </a:r>
                    </a:p>
                  </a:txBody>
                  <a:tcPr marL="31262" marR="31262" marT="15631" marB="1563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Limited spatial reasoning ability, heavy reliance on prompts</a:t>
                      </a:r>
                    </a:p>
                  </a:txBody>
                  <a:tcPr marL="31262" marR="31262" marT="15631" marB="15631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361950"/>
            <a:ext cx="3505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/>
              <a:t>Literature</a:t>
            </a:r>
            <a:r>
              <a:rPr sz="2400" spc="-45"/>
              <a:t> </a:t>
            </a:r>
            <a:r>
              <a:rPr lang="en-US" sz="2400" dirty="0" smtClean="0"/>
              <a:t>Summary</a:t>
            </a:r>
            <a:endParaRPr sz="2400" spc="-50" dirty="0"/>
          </a:p>
        </p:txBody>
      </p:sp>
      <p:sp>
        <p:nvSpPr>
          <p:cNvPr id="5" name="Rectangle 4"/>
          <p:cNvSpPr/>
          <p:nvPr/>
        </p:nvSpPr>
        <p:spPr>
          <a:xfrm>
            <a:off x="533400" y="895350"/>
            <a:ext cx="8305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Existing research shows that deep learning models like U-Net provide accurate pixel-level change detection in satellite imagery.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and CNN-based models achieve high performance in land cover classification tasks.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Segment Anything Model (SAM) enables effective segmentation of satellite images without task-specific training.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Large Language Models (LLMs) enhance interpretability by generating human-readable insights from geospatial data.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However, most existing systems: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Focus on individual tasks (segmentation, classification, or change detection)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Lack integration of multiple techniques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Do not support real-time data processing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Provide limited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and user interaction </a:t>
            </a:r>
          </a:p>
          <a:p>
            <a:pPr lvl="1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Therefore, there is a need for an integrated system that combines segmentation, classification, change detection, and explainable AI which is addressed in our project.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3400" y="209550"/>
            <a:ext cx="8311750" cy="4852610"/>
          </a:xfrm>
          <a:prstGeom prst="rect">
            <a:avLst/>
          </a:prstGeom>
        </p:spPr>
        <p:txBody>
          <a:bodyPr vert="horz" wrap="square" lIns="0" tIns="142240" rIns="0" bIns="0" numCol="2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Datasets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EuroSAT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Dataset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Benchmark dataset for land use &amp; land cover classification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Contains 10 classes (residential, forest, river, industrial, etc.)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Image size: 64 × 64 pixels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Source: Sentinel-2 satellite imagery </a:t>
            </a:r>
          </a:p>
          <a:p>
            <a:pPr lvl="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Used for training and evaluating classification </a:t>
            </a:r>
          </a:p>
          <a:p>
            <a:pPr lvl="5" algn="just">
              <a:lnSpc>
                <a:spcPct val="150000"/>
              </a:lnSpc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models 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NASA GIBS Dataset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Provides real-time and historical satellite imagery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Accessed using Web Map Service (WMS)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Supports multi-temporal analysis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Used for dynamic image retrieval based on coordinates and date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Requirement</a:t>
            </a:r>
            <a:r>
              <a:rPr lang="en-US" sz="2400" b="1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Specifications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Programming &amp; Frameworks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Programming Language: Python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Deep Learning Framework: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Libraries &amp; Tools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– Image preprocessing and manipulation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– Numerical computations and array operations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Web Technologies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Backend Framework: Flask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Frontend: React, JavaScript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APIs &amp; Data Sources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NASA GIBS (WMS) – Real-time satellite image retrieval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OpenAI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(LLM API) – Natural language report generation and    interpretation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22940"/>
            <a:ext cx="7315200" cy="615553"/>
          </a:xfrm>
        </p:spPr>
        <p:txBody>
          <a:bodyPr/>
          <a:lstStyle/>
          <a:p>
            <a:r>
              <a:rPr lang="en-US" dirty="0" smtClean="0"/>
              <a:t>Algorithms Used: U-Net – Change Detection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19150"/>
            <a:ext cx="8077200" cy="4231928"/>
          </a:xfrm>
        </p:spPr>
        <p:txBody>
          <a:bodyPr numCol="2"/>
          <a:lstStyle/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DetectChangeUNet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(image1, image2)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1: Initialize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Resize image1 and image2 to same dimensions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Normalize pixel values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2: Combine Inputs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combined_input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= Concatenate(image1, image2)   # shape: (H, W, 6)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3: Encoder (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Downsampling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FOR each encoder layer DO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Convolution +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ReLU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MaxPooling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Store feature maps (for skip connections)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4: Bottleneck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Apply Convolution layers to extract deep features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5: Decoder (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Upsampling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FOR each decoder layer DO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UpSampling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Concatenate with corresponding encoder feature map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Apply Convolution +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ReLU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# Step 6: Output Layer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change_prob_map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= Apply Sigmoid Activation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7: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Thresholding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FOR each pixel in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change_prob_map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DO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IF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pixel_value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&gt; 0.5 THEN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    mark pixel as 1 (changed)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ELSE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    mark pixel as 0 (unchanged)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    END IF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8: Post-processing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Apply morphological operations to remove noise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# Step 9: Compute Change Percentage</a:t>
            </a: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change_percentage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= (Number of changed pixels / Total pixels) × 100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change_map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change_percentage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END FUNCTION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22940"/>
            <a:ext cx="7772400" cy="292388"/>
          </a:xfrm>
        </p:spPr>
        <p:txBody>
          <a:bodyPr/>
          <a:lstStyle/>
          <a:p>
            <a:r>
              <a:rPr lang="en-US" sz="1900" dirty="0" smtClean="0"/>
              <a:t>Algorithms Used: Segment Anything Model (SAM) – Image Segmentation</a:t>
            </a:r>
            <a:endParaRPr lang="en-US" sz="19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19151"/>
            <a:ext cx="8153400" cy="3962400"/>
          </a:xfrm>
        </p:spPr>
        <p:txBody>
          <a:bodyPr numCol="2"/>
          <a:lstStyle/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SegmentImageSAM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(image)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1: Initialize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Load input image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Resize image to required dimensions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Normalize pixel values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2: Encode Image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image_embeddings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ImageEncoder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(image)  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Extract high-level features using Vision Transformer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3: Generate Prompts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prompts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GenerateGridPoints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(image)  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OR use text/point/box prompts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4: Mask Prediction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masks = []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FOR EACH prompt IN prompts DO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mask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MaskDecoder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image_embeddings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 prompt)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add mask to masks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5: Post-processing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FOR EACH mask IN masks DO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Remove small noisy regions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Smooth boundaries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END FOR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# Step 6: Combine Masks</a:t>
            </a: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segmented_output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= Assign unique labels/colors to each mask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segmented_output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END FUNCTION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22940"/>
            <a:ext cx="7162800" cy="615553"/>
          </a:xfrm>
        </p:spPr>
        <p:txBody>
          <a:bodyPr/>
          <a:lstStyle/>
          <a:p>
            <a:r>
              <a:rPr lang="en-US" dirty="0" smtClean="0"/>
              <a:t>Algorithms Used: </a:t>
            </a:r>
            <a:r>
              <a:rPr lang="en-US" dirty="0" err="1" smtClean="0"/>
              <a:t>EfficientNet</a:t>
            </a:r>
            <a:r>
              <a:rPr lang="en-US" dirty="0" smtClean="0"/>
              <a:t>- Classification</a:t>
            </a:r>
            <a:endParaRPr lang="en-US" b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971550"/>
            <a:ext cx="7696200" cy="3960617"/>
          </a:xfrm>
        </p:spPr>
        <p:txBody>
          <a:bodyPr numCol="2"/>
          <a:lstStyle/>
          <a:p>
            <a:r>
              <a:rPr lang="en-US" sz="1200" dirty="0" smtClean="0"/>
              <a:t>FUNCTION </a:t>
            </a:r>
            <a:r>
              <a:rPr lang="en-US" sz="1200" dirty="0" err="1" smtClean="0"/>
              <a:t>ClassifyImageEfficientNet</a:t>
            </a:r>
            <a:r>
              <a:rPr lang="en-US" sz="1200" dirty="0" smtClean="0"/>
              <a:t>(image)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1: Initialize</a:t>
            </a:r>
          </a:p>
          <a:p>
            <a:r>
              <a:rPr lang="en-US" sz="1200" dirty="0" smtClean="0"/>
              <a:t>    Load input image</a:t>
            </a:r>
          </a:p>
          <a:p>
            <a:r>
              <a:rPr lang="en-US" sz="1200" dirty="0" smtClean="0"/>
              <a:t>    Resize image to (64 × 64)</a:t>
            </a:r>
          </a:p>
          <a:p>
            <a:r>
              <a:rPr lang="en-US" sz="1200" dirty="0" smtClean="0"/>
              <a:t>    Normalize pixel values (0 to 1)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2: Feature Extraction (Backbone Network)</a:t>
            </a:r>
          </a:p>
          <a:p>
            <a:r>
              <a:rPr lang="en-US" sz="1200" dirty="0" smtClean="0"/>
              <a:t>    features = </a:t>
            </a:r>
            <a:r>
              <a:rPr lang="en-US" sz="1200" dirty="0" err="1" smtClean="0"/>
              <a:t>EfficientNet_ConvolutionLayers</a:t>
            </a:r>
            <a:r>
              <a:rPr lang="en-US" sz="1200" dirty="0" smtClean="0"/>
              <a:t>(image)</a:t>
            </a:r>
          </a:p>
          <a:p>
            <a:r>
              <a:rPr lang="en-US" sz="1200" dirty="0" smtClean="0"/>
              <a:t>    # Extract spatial features like edges, textures, patterns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3: Global Pooling</a:t>
            </a:r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pooled_features</a:t>
            </a:r>
            <a:r>
              <a:rPr lang="en-US" sz="1200" dirty="0" smtClean="0"/>
              <a:t> = </a:t>
            </a:r>
            <a:r>
              <a:rPr lang="en-US" sz="1200" dirty="0" err="1" smtClean="0"/>
              <a:t>GlobalMaxPooling</a:t>
            </a:r>
            <a:r>
              <a:rPr lang="en-US" sz="1200" dirty="0" smtClean="0"/>
              <a:t>(features)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4: Fully Connected Layers</a:t>
            </a:r>
          </a:p>
          <a:p>
            <a:r>
              <a:rPr lang="en-US" sz="1200" dirty="0" smtClean="0"/>
              <a:t>    dense1 = </a:t>
            </a:r>
            <a:r>
              <a:rPr lang="en-US" sz="1200" dirty="0" err="1" smtClean="0"/>
              <a:t>DenseLayer</a:t>
            </a:r>
            <a:r>
              <a:rPr lang="en-US" sz="1200" dirty="0" smtClean="0"/>
              <a:t>(</a:t>
            </a:r>
            <a:r>
              <a:rPr lang="en-US" sz="1200" dirty="0" err="1" smtClean="0"/>
              <a:t>pooled_features</a:t>
            </a:r>
            <a:r>
              <a:rPr lang="en-US" sz="1200" dirty="0" smtClean="0"/>
              <a:t>, activation = </a:t>
            </a:r>
            <a:r>
              <a:rPr lang="en-US" sz="1200" dirty="0" err="1" smtClean="0"/>
              <a:t>ReLU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    dropout1 = </a:t>
            </a:r>
            <a:r>
              <a:rPr lang="en-US" sz="1200" dirty="0" err="1" smtClean="0"/>
              <a:t>ApplyDropout</a:t>
            </a:r>
            <a:r>
              <a:rPr lang="en-US" sz="1200" dirty="0" smtClean="0"/>
              <a:t>(dense1)</a:t>
            </a:r>
          </a:p>
          <a:p>
            <a:endParaRPr lang="en-US" sz="1200" dirty="0" smtClean="0"/>
          </a:p>
          <a:p>
            <a:r>
              <a:rPr lang="en-US" sz="1200" dirty="0" smtClean="0"/>
              <a:t>    dense2 = </a:t>
            </a:r>
            <a:r>
              <a:rPr lang="en-US" sz="1200" dirty="0" err="1" smtClean="0"/>
              <a:t>DenseLayer</a:t>
            </a:r>
            <a:r>
              <a:rPr lang="en-US" sz="1200" dirty="0" smtClean="0"/>
              <a:t>(dropout1, activation = </a:t>
            </a:r>
            <a:r>
              <a:rPr lang="en-US" sz="1200" dirty="0" err="1" smtClean="0"/>
              <a:t>ReLU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    dropout2 = </a:t>
            </a:r>
            <a:r>
              <a:rPr lang="en-US" sz="1200" dirty="0" err="1" smtClean="0"/>
              <a:t>ApplyDropout</a:t>
            </a:r>
            <a:r>
              <a:rPr lang="en-US" sz="1200" dirty="0" smtClean="0"/>
              <a:t>(dense2)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5: Output Layer</a:t>
            </a:r>
          </a:p>
          <a:p>
            <a:r>
              <a:rPr lang="en-US" sz="1200" dirty="0" smtClean="0"/>
              <a:t>    output = </a:t>
            </a:r>
            <a:r>
              <a:rPr lang="en-US" sz="1200" dirty="0" err="1" smtClean="0"/>
              <a:t>DenseLayer</a:t>
            </a:r>
            <a:r>
              <a:rPr lang="en-US" sz="1200" dirty="0" smtClean="0"/>
              <a:t>(dropout2, activation = </a:t>
            </a:r>
            <a:r>
              <a:rPr lang="en-US" sz="1200" dirty="0" err="1" smtClean="0"/>
              <a:t>Softmax</a:t>
            </a:r>
            <a:r>
              <a:rPr lang="en-US" sz="1200" dirty="0" smtClean="0"/>
              <a:t>)</a:t>
            </a:r>
          </a:p>
          <a:p>
            <a:endParaRPr lang="en-US" sz="1200" dirty="0" smtClean="0"/>
          </a:p>
          <a:p>
            <a:r>
              <a:rPr lang="en-US" sz="1200" dirty="0" smtClean="0"/>
              <a:t>    # Step 6: Prediction</a:t>
            </a:r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class_index</a:t>
            </a:r>
            <a:r>
              <a:rPr lang="en-US" sz="1200" dirty="0" smtClean="0"/>
              <a:t> = </a:t>
            </a:r>
            <a:r>
              <a:rPr lang="en-US" sz="1200" dirty="0" err="1" smtClean="0"/>
              <a:t>ArgMax</a:t>
            </a:r>
            <a:r>
              <a:rPr lang="en-US" sz="1200" dirty="0" smtClean="0"/>
              <a:t>(output)</a:t>
            </a:r>
          </a:p>
          <a:p>
            <a:r>
              <a:rPr lang="en-US" sz="1200" dirty="0" smtClean="0"/>
              <a:t>    confidence = Max(output)</a:t>
            </a:r>
          </a:p>
          <a:p>
            <a:endParaRPr lang="en-US" sz="1200" dirty="0" smtClean="0"/>
          </a:p>
          <a:p>
            <a:r>
              <a:rPr lang="en-US" sz="1200" dirty="0" smtClean="0"/>
              <a:t>    RETURN </a:t>
            </a:r>
            <a:r>
              <a:rPr lang="en-US" sz="1200" dirty="0" err="1" smtClean="0"/>
              <a:t>class_index</a:t>
            </a:r>
            <a:r>
              <a:rPr lang="en-US" sz="1200" dirty="0" smtClean="0"/>
              <a:t>, confidence, </a:t>
            </a:r>
            <a:r>
              <a:rPr lang="en-US" sz="1200" dirty="0" err="1" smtClean="0"/>
              <a:t>output_probabilities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END FUNCTION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25" dirty="0"/>
              <a:t> </a:t>
            </a:r>
            <a:r>
              <a:rPr spc="-10"/>
              <a:t>Architecture</a:t>
            </a:r>
            <a:r>
              <a:rPr spc="-20"/>
              <a:t> </a:t>
            </a:r>
            <a:endParaRPr spc="-50" dirty="0"/>
          </a:p>
        </p:txBody>
      </p:sp>
      <p:sp>
        <p:nvSpPr>
          <p:cNvPr id="5" name="Rectangle 4"/>
          <p:cNvSpPr/>
          <p:nvPr/>
        </p:nvSpPr>
        <p:spPr>
          <a:xfrm>
            <a:off x="2514600" y="440055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Fig: AI-driven geospatial analysis framework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C:\Users\grees\Downloads\ChatGPT Image Apr 14, 2026, 06_45_46 PM.png"/>
          <p:cNvPicPr>
            <a:picLocks noChangeAspect="1" noChangeArrowheads="1"/>
          </p:cNvPicPr>
          <p:nvPr/>
        </p:nvPicPr>
        <p:blipFill>
          <a:blip r:embed="rId2" cstate="print"/>
          <a:srcRect b="7642"/>
          <a:stretch>
            <a:fillRect/>
          </a:stretch>
        </p:blipFill>
        <p:spPr bwMode="auto">
          <a:xfrm>
            <a:off x="1676400" y="742950"/>
            <a:ext cx="58166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285750"/>
            <a:ext cx="42485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Implementation steps</a:t>
            </a:r>
            <a:endParaRPr sz="2800" spc="-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400" y="819150"/>
            <a:ext cx="81534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Data Collection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Collected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EuroSAT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dataset for training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Integrated NASA GIBS API for real-time satellite images </a:t>
            </a:r>
          </a:p>
          <a:p>
            <a:pPr marL="342900" indent="-342900"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2.    Data Preprocessing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Resized images (64×64 for classification, 256×256 for change detection)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Normalized pixel values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Removed noise and ensured consistency </a:t>
            </a:r>
          </a:p>
          <a:p>
            <a:pPr marL="342900" indent="-342900"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3.    Model Development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Implemented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for land cover classification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Built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U-Net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architecture for change detection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Integrated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SAM model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for image segmentation </a:t>
            </a:r>
          </a:p>
          <a:p>
            <a:pPr marL="342900" indent="-342900"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4.    Model Training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Trained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on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EuroSAT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dataset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Trained U-Net using synthetic/multi-temporal data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Evaluated performance using accuracy and metrics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85751"/>
            <a:ext cx="8001000" cy="4308872"/>
          </a:xfrm>
        </p:spPr>
        <p:txBody>
          <a:bodyPr/>
          <a:lstStyle/>
          <a:p>
            <a:pPr marL="342900" indent="-342900">
              <a:buAutoNum type="arabicPeriod" startAt="5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Backend Development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Developed APIs using Flask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Implemented endpoints: /predict , /annotate , /change-detection </a:t>
            </a:r>
          </a:p>
          <a:p>
            <a:pPr marL="342900" indent="-342900">
              <a:buAutoNum type="arabicPeriod" startAt="6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Frontend Development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Built UI using React &amp; JavaScript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Enabled image upload and coordinate-based input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Displayed results with charts and visualizations </a:t>
            </a:r>
          </a:p>
          <a:p>
            <a:pPr marL="342900" indent="-342900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7.   Integration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Connected frontend with backend APIs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Integrated NASA GIBS for real-time data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Added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OpenAI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LLM for explanation generation </a:t>
            </a:r>
          </a:p>
          <a:p>
            <a:pPr marL="342900" indent="-342900">
              <a:buAutoNum type="arabicPeriod" startAt="8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Testing &amp; Validation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Tested APIs using scripts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Validated outputs with sample images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Compared U-Net with traditional methods </a:t>
            </a:r>
          </a:p>
          <a:p>
            <a:pPr marL="342900" indent="-342900">
              <a:buAutoNum type="arabicPeriod" startAt="9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Visualization &amp; Output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Generated annotated images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Displayed change maps and statistics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Provided user-friendly dashboard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85750"/>
            <a:ext cx="5334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mtClean="0"/>
              <a:t>Results</a:t>
            </a:r>
            <a:r>
              <a:rPr spc="-40" smtClean="0"/>
              <a:t> </a:t>
            </a:r>
            <a:r>
              <a:rPr smtClean="0"/>
              <a:t>Obtained</a:t>
            </a:r>
            <a:r>
              <a:rPr lang="en-US" dirty="0" smtClean="0"/>
              <a:t> - Change Detection</a:t>
            </a:r>
            <a:r>
              <a:rPr spc="-35" smtClean="0"/>
              <a:t> </a:t>
            </a:r>
            <a:endParaRPr spc="-50" dirty="0"/>
          </a:p>
        </p:txBody>
      </p:sp>
      <p:pic>
        <p:nvPicPr>
          <p:cNvPr id="10242" name="Picture 2" descr="C:\Users\grees\Downloads\changedet result.png"/>
          <p:cNvPicPr>
            <a:picLocks noChangeAspect="1" noChangeArrowheads="1"/>
          </p:cNvPicPr>
          <p:nvPr/>
        </p:nvPicPr>
        <p:blipFill>
          <a:blip r:embed="rId2" cstate="print"/>
          <a:srcRect t="12000"/>
          <a:stretch>
            <a:fillRect/>
          </a:stretch>
        </p:blipFill>
        <p:spPr bwMode="auto">
          <a:xfrm>
            <a:off x="381000" y="666750"/>
            <a:ext cx="3962400" cy="16764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895600" y="4897279"/>
            <a:ext cx="5181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Change detection using K-Means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C:\Users\grees\Downloads\change detetct result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590550"/>
            <a:ext cx="3850744" cy="1835884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/>
          <a:srcRect l="3774" t="13596" r="5660" b="6671"/>
          <a:stretch/>
        </p:blipFill>
        <p:spPr>
          <a:xfrm>
            <a:off x="2895600" y="2724150"/>
            <a:ext cx="4191000" cy="2095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3400" y="2419350"/>
            <a:ext cx="3352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Change detection using U-Net (manual upload)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0" y="2419350"/>
            <a:ext cx="3352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Change detection using NASA GIBS (lat-long + date)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422940"/>
            <a:ext cx="6172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mtClean="0"/>
              <a:t>Results</a:t>
            </a:r>
            <a:r>
              <a:rPr spc="-40" smtClean="0"/>
              <a:t> </a:t>
            </a:r>
            <a:r>
              <a:rPr smtClean="0"/>
              <a:t>Obtained</a:t>
            </a:r>
            <a:r>
              <a:rPr lang="en-US" dirty="0" smtClean="0"/>
              <a:t>-Classification &amp; Analysis</a:t>
            </a:r>
            <a:r>
              <a:rPr spc="-35" smtClean="0"/>
              <a:t> </a:t>
            </a:r>
            <a:endParaRPr spc="-50" dirty="0"/>
          </a:p>
        </p:txBody>
      </p:sp>
      <p:sp>
        <p:nvSpPr>
          <p:cNvPr id="5" name="Rectangle 4"/>
          <p:cNvSpPr/>
          <p:nvPr/>
        </p:nvSpPr>
        <p:spPr>
          <a:xfrm>
            <a:off x="1219200" y="3867150"/>
            <a:ext cx="259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Classification using </a:t>
            </a:r>
            <a:r>
              <a:rPr lang="en-US" sz="10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 on SAM segmented image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123950"/>
            <a:ext cx="4648200" cy="2442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t="22528"/>
          <a:stretch>
            <a:fillRect/>
          </a:stretch>
        </p:blipFill>
        <p:spPr bwMode="auto">
          <a:xfrm>
            <a:off x="4867742" y="1581150"/>
            <a:ext cx="4276258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943600" y="3943350"/>
            <a:ext cx="1968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Times New Roman" pitchFamily="18" charset="0"/>
                <a:cs typeface="Times New Roman" pitchFamily="18" charset="0"/>
              </a:rPr>
              <a:t>Fig: Dashboard (land use analysis)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90800" y="417195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 smtClean="0">
                <a:latin typeface="Times New Roman" pitchFamily="18" charset="0"/>
                <a:cs typeface="Times New Roman" pitchFamily="18" charset="0"/>
              </a:rPr>
              <a:t>Fig: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Accuracy curves (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ResNet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61950"/>
            <a:ext cx="42114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Result analysis - Model Performance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875" y="1138238"/>
            <a:ext cx="7588250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91200" y="4705350"/>
            <a:ext cx="3124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Fig: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Analysis output on classified image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514350"/>
            <a:ext cx="441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Result Analysis: Observations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609600" y="895350"/>
            <a:ext cx="5176417" cy="235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U-Net provides accurate pixel-level change detection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K-Means produces noisy and less reliable outputs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SAM improves region-based classification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outperforms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ResNet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 accuracy and efficiency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Dashboard provides meaningful insights (coverage, diversity index)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LLM enhances interpretability and user interaction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622678"/>
            <a:ext cx="3067170" cy="39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5800" y="438151"/>
            <a:ext cx="7848600" cy="420115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Developed an AI-driven satellite image analysis system integrating: </a:t>
            </a:r>
          </a:p>
          <a:p>
            <a:pPr lvl="8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- Classification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8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- Segmentation (SAM) </a:t>
            </a:r>
          </a:p>
          <a:p>
            <a:pPr lvl="8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- Change Detection (U-Net)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Achieved high accuracy in land cover classification and reliable change detection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Enabled real-time satellite data processing using NASA GIBS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Provided interpretable outputs using LLM-based explanations 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Future Work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Improve accuracy using advanced models (Transformers, Vision Transformers)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Enhance real-time performance and optimization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Incorporate higher resolution and multi-spectral datasets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Deploy as a full-scale cloud/web application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Extend system for disaster prediction and environmental monitoring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422940"/>
            <a:ext cx="40961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/>
              <a:t>References</a:t>
            </a:r>
            <a:r>
              <a:rPr sz="2800" spc="-35"/>
              <a:t> </a:t>
            </a:r>
            <a:endParaRPr sz="2800"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016040"/>
            <a:ext cx="82296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Ziming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Li, Bin Chen,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Shengbiao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Wu, Mo Su, Jing M. Chen, Bing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Deep learning for urban land use category classification: A review and experimental assessment,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Remote Sensing of Environment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311, 2024, 114290, ISSN 0034-4257,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https://doi.org/10.1016/j.rse.2024.114290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[2]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Andreea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F.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Jocea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Liviu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Porumb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Loredana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Necula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Dragos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Raducanu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Sentinel-2 Land Cover Classification: State-of-the-Art Methods and the Reality of Operational Deployment—A Systematic Review,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Sustainability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17, 2025, 10324,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https://doi.org/10.3390/su172210324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[3] Muhammad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Zubair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Ur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Rehman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Sheikh Mohammed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Shariful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Islam, David Blake, Deep learning for land use classification: A systematic review of HS-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LiDAR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imagery,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Artificial Intelligence Review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58, 2025, 272,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https://doi.org/10.1007/s10462-025-11265-z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[4]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Tsion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Fekadu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Deressu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Amanuel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Kumsa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Bojer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Taye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Girma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Debelee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Worku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Gachena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Negera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Saralees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Nadarajah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Kena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Wendimu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Gebissa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Enhancing land use and land cover classification with deep learning-based satellite imagery segmentation,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International Journal of Applied Earth Observation and </a:t>
            </a:r>
            <a:r>
              <a:rPr lang="en-IN" sz="1200" i="1" dirty="0" err="1" smtClean="0">
                <a:latin typeface="Times New Roman" pitchFamily="18" charset="0"/>
                <a:cs typeface="Times New Roman" pitchFamily="18" charset="0"/>
              </a:rPr>
              <a:t>Geoinformation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144, 2025, 104839, ISSN 1569-8432,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https://doi.org/10.1016/j.jag.2025.104839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[5]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Zhujun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Gu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Maimai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Zeng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The Use of Artificial Intelligence and Satellite Remote Sensing in Land Cover Change Detection: Review and Perspectives,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Sustainability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16, 2023, 274,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6"/>
              </a:rPr>
              <a:t>https://doi.org/10.3390/su16010274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[6]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Fatih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F.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Şimşek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Determination of land use and land cover change using multi-temporal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PlanetScope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images and deep learning CNN model,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Paddy and Water Environment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23, 2025, pp. 405–423,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7"/>
              </a:rPr>
              <a:t>https://doi.org/10.1007/s10333-025-01024-9</a:t>
            </a:r>
            <a:endParaRPr lang="en-IN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[7]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Jeyakumar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Jagannathan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M.T.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Vadivel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C. </a:t>
            </a:r>
            <a:r>
              <a:rPr lang="en-IN" sz="1200" dirty="0" err="1" smtClean="0">
                <a:latin typeface="Times New Roman" pitchFamily="18" charset="0"/>
                <a:cs typeface="Times New Roman" pitchFamily="18" charset="0"/>
              </a:rPr>
              <a:t>Divya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Land use classification using multi-year Sentinel-2 images with deep learning ensemble network,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Scientific Reports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, Volume 15, 2025, 29047, </a:t>
            </a:r>
            <a:r>
              <a:rPr lang="en-IN" sz="1200" dirty="0" smtClean="0">
                <a:latin typeface="Times New Roman" pitchFamily="18" charset="0"/>
                <a:cs typeface="Times New Roman" pitchFamily="18" charset="0"/>
                <a:hlinkClick r:id="rId8"/>
              </a:rPr>
              <a:t>https://doi.org/10.1038/s41598-025-12512-7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14350"/>
            <a:ext cx="8159350" cy="3877985"/>
          </a:xfrm>
        </p:spPr>
        <p:txBody>
          <a:bodyPr/>
          <a:lstStyle/>
          <a:p>
            <a:pPr algn="just"/>
            <a:r>
              <a:rPr lang="en-IN" sz="1200" dirty="0" smtClean="0"/>
              <a:t>[8] </a:t>
            </a:r>
            <a:r>
              <a:rPr lang="en-IN" sz="1200" dirty="0" err="1" smtClean="0"/>
              <a:t>Ghulam</a:t>
            </a:r>
            <a:r>
              <a:rPr lang="en-IN" sz="1200" dirty="0" smtClean="0"/>
              <a:t> </a:t>
            </a:r>
            <a:r>
              <a:rPr lang="en-IN" sz="1200" dirty="0" err="1" smtClean="0"/>
              <a:t>Amin</a:t>
            </a:r>
            <a:r>
              <a:rPr lang="en-IN" sz="1200" dirty="0" smtClean="0"/>
              <a:t>, </a:t>
            </a:r>
            <a:r>
              <a:rPr lang="en-IN" sz="1200" dirty="0" err="1" smtClean="0"/>
              <a:t>Imtiaz</a:t>
            </a:r>
            <a:r>
              <a:rPr lang="en-IN" sz="1200" dirty="0" smtClean="0"/>
              <a:t> </a:t>
            </a:r>
            <a:r>
              <a:rPr lang="en-IN" sz="1200" dirty="0" err="1" smtClean="0"/>
              <a:t>Imtiaz</a:t>
            </a:r>
            <a:r>
              <a:rPr lang="en-IN" sz="1200" dirty="0" smtClean="0"/>
              <a:t>, </a:t>
            </a:r>
            <a:r>
              <a:rPr lang="en-IN" sz="1200" dirty="0" err="1" smtClean="0"/>
              <a:t>Ehtisham</a:t>
            </a:r>
            <a:r>
              <a:rPr lang="en-IN" sz="1200" dirty="0" smtClean="0"/>
              <a:t> </a:t>
            </a:r>
            <a:r>
              <a:rPr lang="en-IN" sz="1200" dirty="0" err="1" smtClean="0"/>
              <a:t>Haroon</a:t>
            </a:r>
            <a:r>
              <a:rPr lang="en-IN" sz="1200" dirty="0" smtClean="0"/>
              <a:t>, Assessment of Machine Learning Algorithms for Land Cover Classification in a Complex Mountainous Landscape, </a:t>
            </a:r>
            <a:r>
              <a:rPr lang="en-IN" sz="1200" i="1" dirty="0" smtClean="0"/>
              <a:t>Journal of </a:t>
            </a:r>
            <a:r>
              <a:rPr lang="en-IN" sz="1200" i="1" dirty="0" err="1" smtClean="0"/>
              <a:t>Geovisualization</a:t>
            </a:r>
            <a:r>
              <a:rPr lang="en-IN" sz="1200" i="1" dirty="0" smtClean="0"/>
              <a:t> and Spatial Analysis</a:t>
            </a:r>
            <a:r>
              <a:rPr lang="en-IN" sz="1200" dirty="0" smtClean="0"/>
              <a:t>, Volume 8, 2024, 34, </a:t>
            </a:r>
            <a:r>
              <a:rPr lang="en-IN" sz="1200" dirty="0" smtClean="0">
                <a:hlinkClick r:id="rId2"/>
              </a:rPr>
              <a:t>https://doi.org/10.1007/s41651-024-00195-z</a:t>
            </a:r>
            <a:endParaRPr lang="en-US" sz="1200" dirty="0" smtClean="0"/>
          </a:p>
          <a:p>
            <a:pPr algn="just"/>
            <a:r>
              <a:rPr lang="en-IN" sz="1200" dirty="0" smtClean="0"/>
              <a:t>[9] Muhammad Khan, </a:t>
            </a:r>
            <a:r>
              <a:rPr lang="en-IN" sz="1200" dirty="0" err="1" smtClean="0"/>
              <a:t>Aamir</a:t>
            </a:r>
            <a:r>
              <a:rPr lang="en-IN" sz="1200" dirty="0" smtClean="0"/>
              <a:t> </a:t>
            </a:r>
            <a:r>
              <a:rPr lang="en-IN" sz="1200" dirty="0" err="1" smtClean="0"/>
              <a:t>Hanan</a:t>
            </a:r>
            <a:r>
              <a:rPr lang="en-IN" sz="1200" dirty="0" smtClean="0"/>
              <a:t>, </a:t>
            </a:r>
            <a:r>
              <a:rPr lang="en-IN" sz="1200" dirty="0" err="1" smtClean="0"/>
              <a:t>Madiyar</a:t>
            </a:r>
            <a:r>
              <a:rPr lang="en-IN" sz="1200" dirty="0" smtClean="0"/>
              <a:t> </a:t>
            </a:r>
            <a:r>
              <a:rPr lang="en-IN" sz="1200" dirty="0" err="1" smtClean="0"/>
              <a:t>Kenzhebay</a:t>
            </a:r>
            <a:r>
              <a:rPr lang="en-IN" sz="1200" dirty="0" smtClean="0"/>
              <a:t>, Transformer-based land use and land cover classification with </a:t>
            </a:r>
            <a:r>
              <a:rPr lang="en-IN" sz="1200" dirty="0" err="1" smtClean="0"/>
              <a:t>explainability</a:t>
            </a:r>
            <a:r>
              <a:rPr lang="en-IN" sz="1200" dirty="0" smtClean="0"/>
              <a:t> using satellite imagery, </a:t>
            </a:r>
            <a:r>
              <a:rPr lang="en-IN" sz="1200" i="1" dirty="0" smtClean="0"/>
              <a:t>Scientific Reports</a:t>
            </a:r>
            <a:r>
              <a:rPr lang="en-IN" sz="1200" dirty="0" smtClean="0"/>
              <a:t>, Volume 14, 2024, 16744, </a:t>
            </a:r>
            <a:r>
              <a:rPr lang="en-IN" sz="1200" dirty="0" smtClean="0">
                <a:hlinkClick r:id="rId3"/>
              </a:rPr>
              <a:t>https://doi.org/10.1038/s41598-024-67186-4</a:t>
            </a:r>
            <a:endParaRPr lang="en-US" sz="1200" dirty="0" smtClean="0"/>
          </a:p>
          <a:p>
            <a:pPr algn="just"/>
            <a:r>
              <a:rPr lang="en-IN" sz="1200" dirty="0" smtClean="0"/>
              <a:t>[10] </a:t>
            </a:r>
            <a:r>
              <a:rPr lang="en-IN" sz="1200" dirty="0" err="1" smtClean="0"/>
              <a:t>Alireza</a:t>
            </a:r>
            <a:r>
              <a:rPr lang="en-IN" sz="1200" dirty="0" smtClean="0"/>
              <a:t> A. </a:t>
            </a:r>
            <a:r>
              <a:rPr lang="en-IN" sz="1200" dirty="0" err="1" smtClean="0"/>
              <a:t>Gharahbagh</a:t>
            </a:r>
            <a:r>
              <a:rPr lang="en-IN" sz="1200" dirty="0" smtClean="0"/>
              <a:t>, </a:t>
            </a:r>
            <a:r>
              <a:rPr lang="en-IN" sz="1200" dirty="0" err="1" smtClean="0"/>
              <a:t>Vahid</a:t>
            </a:r>
            <a:r>
              <a:rPr lang="en-IN" sz="1200" dirty="0" smtClean="0"/>
              <a:t> </a:t>
            </a:r>
            <a:r>
              <a:rPr lang="en-IN" sz="1200" dirty="0" err="1" smtClean="0"/>
              <a:t>Hajihashemi</a:t>
            </a:r>
            <a:r>
              <a:rPr lang="en-IN" sz="1200" dirty="0" smtClean="0"/>
              <a:t>, Joao J.M. Machado, Joao M.R.S. Tavares, Land Cover Classification Model Using Multispectral Satellite Images Based on a Deep Learning Synergistic Semantic Segmentation Network, </a:t>
            </a:r>
            <a:r>
              <a:rPr lang="en-IN" sz="1200" i="1" dirty="0" smtClean="0"/>
              <a:t>Sensors</a:t>
            </a:r>
            <a:r>
              <a:rPr lang="en-IN" sz="1200" dirty="0" smtClean="0"/>
              <a:t>, Volume 25, 2025, 1988, </a:t>
            </a:r>
            <a:r>
              <a:rPr lang="en-IN" sz="1200" dirty="0" smtClean="0">
                <a:hlinkClick r:id="rId4"/>
              </a:rPr>
              <a:t>https://doi.org/10.3390/s25071988</a:t>
            </a:r>
            <a:endParaRPr lang="en-US" sz="1200" dirty="0" smtClean="0"/>
          </a:p>
          <a:p>
            <a:pPr algn="just"/>
            <a:r>
              <a:rPr lang="en-IN" sz="1200" dirty="0" smtClean="0"/>
              <a:t>[11] Wei Zhang, </a:t>
            </a:r>
            <a:r>
              <a:rPr lang="en-IN" sz="1200" dirty="0" err="1" smtClean="0"/>
              <a:t>Xiaofei</a:t>
            </a:r>
            <a:r>
              <a:rPr lang="en-IN" sz="1200" dirty="0" smtClean="0"/>
              <a:t> Yang, Zhen Yuan, Zhen Chen, </a:t>
            </a:r>
            <a:r>
              <a:rPr lang="en-IN" sz="1200" dirty="0" err="1" smtClean="0"/>
              <a:t>Yufei</a:t>
            </a:r>
            <a:r>
              <a:rPr lang="en-IN" sz="1200" dirty="0" smtClean="0"/>
              <a:t> </a:t>
            </a:r>
            <a:r>
              <a:rPr lang="en-IN" sz="1200" dirty="0" err="1" smtClean="0"/>
              <a:t>Xu</a:t>
            </a:r>
            <a:r>
              <a:rPr lang="en-IN" sz="1200" dirty="0" smtClean="0"/>
              <a:t>, A Framework for Fine-Grained Land-Cover Classification Using 10 m Sentinel-2 Images, </a:t>
            </a:r>
            <a:r>
              <a:rPr lang="en-IN" sz="1200" i="1" dirty="0" smtClean="0"/>
              <a:t>Remote Sensing</a:t>
            </a:r>
            <a:r>
              <a:rPr lang="en-IN" sz="1200" dirty="0" smtClean="0"/>
              <a:t>, Volume 16, 2024, 390, </a:t>
            </a:r>
            <a:r>
              <a:rPr lang="en-IN" sz="1200" dirty="0" smtClean="0">
                <a:hlinkClick r:id="rId5"/>
              </a:rPr>
              <a:t>https://doi.org/10.3390/rs16020390</a:t>
            </a:r>
            <a:endParaRPr lang="en-US" sz="1200" dirty="0" smtClean="0"/>
          </a:p>
          <a:p>
            <a:pPr algn="just"/>
            <a:r>
              <a:rPr lang="en-IN" sz="1200" dirty="0" smtClean="0"/>
              <a:t>[12] Abdullah M. </a:t>
            </a:r>
            <a:r>
              <a:rPr lang="en-IN" sz="1200" dirty="0" err="1" smtClean="0"/>
              <a:t>Mashraqi</a:t>
            </a:r>
            <a:r>
              <a:rPr lang="en-IN" sz="1200" dirty="0" smtClean="0"/>
              <a:t>, </a:t>
            </a:r>
            <a:r>
              <a:rPr lang="en-IN" sz="1200" dirty="0" err="1" smtClean="0"/>
              <a:t>Eissa</a:t>
            </a:r>
            <a:r>
              <a:rPr lang="en-IN" sz="1200" dirty="0" smtClean="0"/>
              <a:t> A. </a:t>
            </a:r>
            <a:r>
              <a:rPr lang="en-IN" sz="1200" dirty="0" err="1" smtClean="0"/>
              <a:t>Alshari</a:t>
            </a:r>
            <a:r>
              <a:rPr lang="en-IN" sz="1200" dirty="0" smtClean="0"/>
              <a:t>, </a:t>
            </a:r>
            <a:r>
              <a:rPr lang="en-IN" sz="1200" dirty="0" err="1" smtClean="0"/>
              <a:t>Hatem</a:t>
            </a:r>
            <a:r>
              <a:rPr lang="en-IN" sz="1200" dirty="0" smtClean="0"/>
              <a:t> T. </a:t>
            </a:r>
            <a:r>
              <a:rPr lang="en-IN" sz="1200" dirty="0" err="1" smtClean="0"/>
              <a:t>Halawani</a:t>
            </a:r>
            <a:r>
              <a:rPr lang="en-IN" sz="1200" dirty="0" smtClean="0"/>
              <a:t>, </a:t>
            </a:r>
            <a:r>
              <a:rPr lang="en-IN" sz="1200" dirty="0" err="1" smtClean="0"/>
              <a:t>Emad</a:t>
            </a:r>
            <a:r>
              <a:rPr lang="en-IN" sz="1200" dirty="0" smtClean="0"/>
              <a:t> M. </a:t>
            </a:r>
            <a:r>
              <a:rPr lang="en-IN" sz="1200" dirty="0" err="1" smtClean="0"/>
              <a:t>Senan</a:t>
            </a:r>
            <a:r>
              <a:rPr lang="en-IN" sz="1200" dirty="0" smtClean="0"/>
              <a:t>, </a:t>
            </a:r>
            <a:r>
              <a:rPr lang="en-IN" sz="1200" dirty="0" err="1" smtClean="0"/>
              <a:t>Yahya</a:t>
            </a:r>
            <a:r>
              <a:rPr lang="en-IN" sz="1200" dirty="0" smtClean="0"/>
              <a:t> </a:t>
            </a:r>
            <a:r>
              <a:rPr lang="en-IN" sz="1200" dirty="0" err="1" smtClean="0"/>
              <a:t>Asiri</a:t>
            </a:r>
            <a:r>
              <a:rPr lang="en-IN" sz="1200" dirty="0" smtClean="0"/>
              <a:t>, </a:t>
            </a:r>
            <a:r>
              <a:rPr lang="en-IN" sz="1200" dirty="0" err="1" smtClean="0"/>
              <a:t>Bander</a:t>
            </a:r>
            <a:r>
              <a:rPr lang="en-IN" sz="1200" dirty="0" smtClean="0"/>
              <a:t> M. </a:t>
            </a:r>
            <a:r>
              <a:rPr lang="en-IN" sz="1200" dirty="0" err="1" smtClean="0"/>
              <a:t>Alowadhi</a:t>
            </a:r>
            <a:r>
              <a:rPr lang="en-IN" sz="1200" dirty="0" smtClean="0"/>
              <a:t>, Hybrid deep learning and optimization-based land use and land cover classification for advancing sustainable agriculture, </a:t>
            </a:r>
            <a:r>
              <a:rPr lang="en-IN" sz="1200" i="1" dirty="0" smtClean="0"/>
              <a:t>Scientific Reports</a:t>
            </a:r>
            <a:r>
              <a:rPr lang="en-IN" sz="1200" dirty="0" smtClean="0"/>
              <a:t>, Volume 15, 2025, 41808, https://doi.org/10.1038/s41598-025-25908-2</a:t>
            </a:r>
            <a:endParaRPr lang="en-US" sz="1200" dirty="0" smtClean="0"/>
          </a:p>
          <a:p>
            <a:pPr algn="just"/>
            <a:r>
              <a:rPr lang="en-IN" sz="1200" dirty="0" smtClean="0"/>
              <a:t>[13] Fan </a:t>
            </a:r>
            <a:r>
              <a:rPr lang="en-IN" sz="1200" dirty="0" err="1" smtClean="0"/>
              <a:t>Fan</a:t>
            </a:r>
            <a:r>
              <a:rPr lang="en-IN" sz="1200" dirty="0" smtClean="0"/>
              <a:t>, </a:t>
            </a:r>
            <a:r>
              <a:rPr lang="en-IN" sz="1200" dirty="0" err="1" smtClean="0"/>
              <a:t>Yilei</a:t>
            </a:r>
            <a:r>
              <a:rPr lang="en-IN" sz="1200" dirty="0" smtClean="0"/>
              <a:t> Shi, Xiao Zhu, Land Cover Classification From Sentinel-2 Images With Quantum-Classical </a:t>
            </a:r>
            <a:r>
              <a:rPr lang="en-IN" sz="1200" dirty="0" err="1" smtClean="0"/>
              <a:t>Convolutional</a:t>
            </a:r>
            <a:r>
              <a:rPr lang="en-IN" sz="1200" dirty="0" smtClean="0"/>
              <a:t> Neural Networks, </a:t>
            </a:r>
            <a:r>
              <a:rPr lang="en-IN" sz="1200" i="1" dirty="0" smtClean="0"/>
              <a:t>IEEE Journal of Selected Topics in Applied Earth Observations and Remote Sensing</a:t>
            </a:r>
            <a:r>
              <a:rPr lang="en-IN" sz="1200" dirty="0" smtClean="0"/>
              <a:t>, 2024, </a:t>
            </a:r>
            <a:r>
              <a:rPr lang="en-IN" sz="1200" dirty="0" smtClean="0">
                <a:hlinkClick r:id="rId6"/>
              </a:rPr>
              <a:t>https://doi.org/10.1109/JSTARS.2024.3411670</a:t>
            </a:r>
            <a:endParaRPr lang="en-US" sz="1200" dirty="0" smtClean="0"/>
          </a:p>
          <a:p>
            <a:pPr algn="just"/>
            <a:r>
              <a:rPr lang="en-IN" sz="1200" dirty="0" smtClean="0"/>
              <a:t>[14] Ming </a:t>
            </a:r>
            <a:r>
              <a:rPr lang="en-IN" sz="1200" dirty="0" err="1" smtClean="0"/>
              <a:t>Hao</a:t>
            </a:r>
            <a:r>
              <a:rPr lang="en-IN" sz="1200" dirty="0" smtClean="0"/>
              <a:t>, </a:t>
            </a:r>
            <a:r>
              <a:rPr lang="en-IN" sz="1200" dirty="0" err="1" smtClean="0"/>
              <a:t>Xiaoli</a:t>
            </a:r>
            <a:r>
              <a:rPr lang="en-IN" sz="1200" dirty="0" smtClean="0"/>
              <a:t> Zhang, Yong Liu, Land-use classification based on high-resolution remote sensing imagery and deep learning models, </a:t>
            </a:r>
            <a:r>
              <a:rPr lang="en-IN" sz="1200" i="1" dirty="0" smtClean="0"/>
              <a:t>PLOS ONE</a:t>
            </a:r>
            <a:r>
              <a:rPr lang="en-IN" sz="1200" dirty="0" smtClean="0"/>
              <a:t>, Volume 19, 2024, e0300473, https://doi.org/10.1371/journal.pone.0300473</a:t>
            </a:r>
            <a:endParaRPr lang="en-US" sz="1200" dirty="0" smtClean="0"/>
          </a:p>
          <a:p>
            <a:pPr algn="just"/>
            <a:r>
              <a:rPr lang="en-IN" sz="1200" dirty="0" smtClean="0"/>
              <a:t>[15] </a:t>
            </a:r>
            <a:r>
              <a:rPr lang="en-IN" sz="1200" dirty="0" err="1" smtClean="0"/>
              <a:t>Yifan</a:t>
            </a:r>
            <a:r>
              <a:rPr lang="en-IN" sz="1200" dirty="0" smtClean="0"/>
              <a:t> Wang, </a:t>
            </a:r>
            <a:r>
              <a:rPr lang="en-IN" sz="1200" dirty="0" err="1" smtClean="0"/>
              <a:t>Qiang</a:t>
            </a:r>
            <a:r>
              <a:rPr lang="en-IN" sz="1200" dirty="0" smtClean="0"/>
              <a:t> Li, </a:t>
            </a:r>
            <a:r>
              <a:rPr lang="en-IN" sz="1200" dirty="0" err="1" smtClean="0"/>
              <a:t>Hongbo</a:t>
            </a:r>
            <a:r>
              <a:rPr lang="en-IN" sz="1200" dirty="0" smtClean="0"/>
              <a:t> Zhao, Deep learning-based land use classification using spectral indices for improved feature representation, </a:t>
            </a:r>
            <a:r>
              <a:rPr lang="en-IN" sz="1200" i="1" dirty="0" smtClean="0"/>
              <a:t>Remote Sensing</a:t>
            </a:r>
            <a:r>
              <a:rPr lang="en-IN" sz="1200" dirty="0" smtClean="0"/>
              <a:t>, Volume 17, 2025, 1398, https://doi.org/10.3390/rs17081398</a:t>
            </a:r>
            <a:endParaRPr lang="en-US" sz="1200" dirty="0" smtClean="0"/>
          </a:p>
          <a:p>
            <a:pPr algn="just"/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2038350"/>
            <a:ext cx="3742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THANK</a:t>
            </a:r>
            <a:r>
              <a:rPr sz="4800" spc="-204" dirty="0"/>
              <a:t> </a:t>
            </a:r>
            <a:r>
              <a:rPr sz="4800" spc="-25" dirty="0"/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</TotalTime>
  <Words>2537</Words>
  <Application>Microsoft Office PowerPoint</Application>
  <PresentationFormat>On-screen Show (16:9)</PresentationFormat>
  <Paragraphs>331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Department of Information Technology V R Siddhartha Engineering College</vt:lpstr>
      <vt:lpstr>Agenda</vt:lpstr>
      <vt:lpstr>Introduction</vt:lpstr>
      <vt:lpstr>Problem Statement </vt:lpstr>
      <vt:lpstr>Slide 5</vt:lpstr>
      <vt:lpstr>Literature Review</vt:lpstr>
      <vt:lpstr>Literature Summary</vt:lpstr>
      <vt:lpstr>Slide 8</vt:lpstr>
      <vt:lpstr>Algorithms Used: U-Net – Change Detection</vt:lpstr>
      <vt:lpstr>Algorithms Used: Segment Anything Model (SAM) – Image Segmentation</vt:lpstr>
      <vt:lpstr>Algorithms Used: EfficientNet- Classification</vt:lpstr>
      <vt:lpstr>System Architecture </vt:lpstr>
      <vt:lpstr>Implementation steps</vt:lpstr>
      <vt:lpstr>Slide 14</vt:lpstr>
      <vt:lpstr>Results Obtained - Change Detection </vt:lpstr>
      <vt:lpstr>Results Obtained-Classification &amp; Analysis </vt:lpstr>
      <vt:lpstr>Slide 17</vt:lpstr>
      <vt:lpstr>Slide 18</vt:lpstr>
      <vt:lpstr>Slide 19</vt:lpstr>
      <vt:lpstr>References </vt:lpstr>
      <vt:lpstr>Slide 21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C- 18</dc:title>
  <cp:lastModifiedBy>grees</cp:lastModifiedBy>
  <cp:revision>55</cp:revision>
  <dcterms:created xsi:type="dcterms:W3CDTF">2026-04-14T03:24:22Z</dcterms:created>
  <dcterms:modified xsi:type="dcterms:W3CDTF">2026-04-18T13:20:50Z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2026-04-14T00:00:00Z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2026-04-14T00:00:00Z</vt:filetime>
  </property>
</Properties>
</file>